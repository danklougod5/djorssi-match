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CONCEPTION ET IMPLÉMENTATION D'UNE PLATEFORME DE RECRUTEMENT PRÉDICTIF BASÉE SUR UN ALGORITHME DE MATCHING</a:t>
            </a:r>
          </a:p>
          <a:p>
            <a:pPr algn="ctr">
              <a:defRPr sz="2000" i="1">
                <a:solidFill>
                  <a:srgbClr val="FFFFFF"/>
                </a:solidFill>
                <a:latin typeface="Arial"/>
              </a:defRPr>
            </a:pPr>
            <a:r>
              <a:t>Approche Mobile-First et Architecture Serverless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  <a:latin typeface="Arial"/>
              </a:defRPr>
            </a:pPr>
            <a:r>
              <a:t>Présenté par : DANKLOU DODY (Filière : Génie Logiciel)</a:t>
            </a:r>
            <a:br/>
            <a:r>
              <a:t>IIT School of Engineering</a:t>
            </a:r>
          </a:p>
          <a:p>
            <a:pPr algn="ctr">
              <a:defRPr sz="1400">
                <a:solidFill>
                  <a:srgbClr val="FFFFFF"/>
                </a:solidFill>
                <a:latin typeface="Arial"/>
              </a:defRPr>
            </a:pPr>
            <a:r>
              <a:t>Encadrant : Monsieur Jean Fabrice DIA (Directeur des Études)</a:t>
            </a:r>
            <a:br/>
            <a:r>
              <a:t>Date : Juin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Arial"/>
              </a:defRPr>
            </a:pPr>
            <a:r>
              <a:t>Plan de la Présentation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17352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1. Contexte &amp; Problématique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2. Revue de Littérature (État de l'Art)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3. Méthodologie et Données Collectées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4. Solution Proposée &amp; Architecture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5. Démonstration du Prototype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6. Validation et Limites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7. Conclusion et Perspectives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Arial"/>
              </a:defRPr>
            </a:pPr>
            <a:r>
              <a:t>1. Contexte Général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17352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Le Constat : Chômage élevé des jeunes diplômés connectés en Côte d'Ivoire.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Le Phénomène du 'Trou Noir' : Les méthodes de recrutement classiques (formulaires web lourds, envoi de CV PDF par mail sans retour) découragent les candidats.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Inadaptation culturelle et technique des solutions mondiales (ex: LinkedIn, Indeed) :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  - Coût élevé de la bande passante internet.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  - Absence de pont direct de communication avec le recruteur.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  - Manque de prise en compte des solutions locales (Mobile Money, WhatsApp).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Arial"/>
              </a:defRPr>
            </a:pPr>
            <a:r>
              <a:t>1. Problématique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17352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1E3A8A"/>
                </a:solidFill>
                <a:latin typeface="Arial"/>
              </a:defRPr>
            </a:pPr>
            <a:r>
              <a:t>Question de recherche centrale :</a:t>
            </a:r>
          </a:p>
          <a:p>
            <a:pPr>
              <a:spcAft>
                <a:spcPts val="2000"/>
              </a:spcAft>
              <a:defRPr sz="2200" b="1" i="1">
                <a:solidFill>
                  <a:srgbClr val="282828"/>
                </a:solidFill>
                <a:latin typeface="Arial"/>
              </a:defRPr>
            </a:pPr>
            <a:r>
              <a:t>« Comment concevoir une plateforme de mise en relation emploi-candidat qui soit à la fois technologiquement performante, contextuellement adaptée au marché africain, et suffisamment engageante pour favoriser une adoption massive ? »</a:t>
            </a:r>
          </a:p>
          <a:p>
            <a:pPr>
              <a:defRPr sz="1800">
                <a:solidFill>
                  <a:srgbClr val="282828"/>
                </a:solidFill>
                <a:latin typeface="Arial"/>
              </a:defRPr>
            </a:pPr>
            <a:r>
              <a:t>Sous-questions :</a:t>
            </a:r>
            <a:br/>
            <a:r>
              <a:t>- Comment simplifier la postulation tout en garantissant des profils qualifiés ?</a:t>
            </a:r>
            <a:br/>
            <a:r>
              <a:t>- Comment lever le frein psychologique du contact candidat-recruteur 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Arial"/>
              </a:defRPr>
            </a:pPr>
            <a:r>
              <a:t>2. Revue de Littérature / État de l'Art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17352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• Systèmes de Recommandation : Intérêt du filtrage basé sur le contenu (Content-Based) pour contrer le démarrage à froid (Cold Start) des nouvelles annonces.</a:t>
            </a:r>
          </a:p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• Gamification et 'Swipe-to-Apply' : Réduction de la friction et création de micro-engagements par boucle de dopamine.</a:t>
            </a:r>
          </a:p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• Modèle TAM (Technology Acceptance Model) : L'adoption dépend de l'Utilité perçue (chômage) et de la Facilité d'utilisation perçue (barrière technique résolue par le mobile-first et offline-first).</a:t>
            </a:r>
          </a:p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• Comparaison concurrentielle : LinkedIn (élitiste, peu de retours) vs Portails locaux (pas de matching intelligent, silence radio).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943600"/>
            <a:ext cx="108173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1E3A8A"/>
                </a:solidFill>
                <a:latin typeface="Arial"/>
              </a:defRPr>
            </a:pPr>
            <a:r>
              <a:t>Sources : Adomavicius &amp; Tuzhilin (2005) ; Deterding et al. (2011) ; Venkatesh et al. (2003)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Arial"/>
              </a:defRPr>
            </a:pPr>
            <a:r>
              <a:t>2. Hypothèses de Recherche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817352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0"/>
              </a:spcAft>
              <a:defRPr sz="1800" b="1">
                <a:solidFill>
                  <a:srgbClr val="282828"/>
                </a:solidFill>
                <a:latin typeface="Arial"/>
              </a:defRPr>
            </a:pPr>
            <a:r>
              <a:t>H1 (UX) : L'approche gamifiée par Swipe réduit la friction psychologique et augmente l'engagement des jeunes chercheurs d'emploi.</a:t>
            </a:r>
          </a:p>
          <a:p>
            <a:pPr>
              <a:spcAft>
                <a:spcPts val="2000"/>
              </a:spcAft>
              <a:defRPr sz="1800" b="1">
                <a:solidFill>
                  <a:srgbClr val="1E3A8A"/>
                </a:solidFill>
                <a:latin typeface="Arial"/>
              </a:defRPr>
            </a:pPr>
            <a:r>
              <a:t>H2 (Algorithme) : Un calcul de score de matching sémantique permet d'écarter plus de 80% des profils non qualifiés avant toute action.</a:t>
            </a:r>
          </a:p>
          <a:p>
            <a:pPr>
              <a:spcAft>
                <a:spcPts val="2000"/>
              </a:spcAft>
              <a:defRPr sz="1800" b="1">
                <a:solidFill>
                  <a:srgbClr val="282828"/>
                </a:solidFill>
                <a:latin typeface="Arial"/>
              </a:defRPr>
            </a:pPr>
            <a:r>
              <a:t>H3 (TAM - Localisation) : L'intégration d'outils locaux (WhatsApp, Mobile Money) dans le parcours utilisateur augmente la facilité d'utilisation et l'acceptation globale de l'application.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Arial"/>
              </a:defRPr>
            </a:pPr>
            <a:r>
              <a:t>3. Méthodologie de Recherche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17352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Type d'étude : Recherche-action empirique s'appuyant sur la mise en production d'un prototype réel.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Population cible : Jeunes diplômés ivoiriens en recherche d'emploi et recruteurs locaux.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Collecte des données :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  - Suivi statistique quantitatif de 291 utilisateurs en base de données.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  - Analyse du comportement utilisateur (volume de swipes, taux d'ouverture des coordonnées, etc.).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  - Enquêtes et formulaires de retour (feedbacks, motifs de suppression de compte, etc.).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Arial"/>
              </a:defRPr>
            </a:pPr>
            <a:r>
              <a:t>3. Données Collectées &amp; Statistiques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17352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Efficacité du Tri Algorithmique :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  - Plus de 85 % des propositions d'emploi hors-sujet ou inadéquates sont filtrées en amont.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  - Zéro fatigue de tri pour le recruteur, et pertinence assurée pour le candidat.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Impact des Messages WhatsApp pré-remplis :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  - Augmentation de +40 % du taux de contact effectif post-match.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  - Le message pré-rempli lève la réserve naturelle et le stress du candidat à initier la discussion.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  - 291 profils complets enregistrés avec CV et numéro de téléphone mobile.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Arial"/>
              </a:defRPr>
            </a:pPr>
            <a:r>
              <a:t>3. Interprétation des Résultats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17352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Relation Résultats -&gt; Problématique :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- L'engagement élevé (swipes réguliers) valide l'approche mobile gamifiée.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- Le taux de contact de +40% via WhatsApp montre que la communication directe comble le fossé du 'trou noir'.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- Le rejet de 85% de profils inadéquats par le matching confirme la viabilité du filtrage par score sans obliger à des formulaires longs en amont.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- Les résultats confirment l'hypothèse de l'utilité et de la facilité d'utilisation (modèle TAM).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Arial"/>
              </a:defRPr>
            </a:pPr>
            <a:r>
              <a:t>4. La Solution : Djorssi Match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17352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Un écosystème en trois couches :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1. L'application mobile (Flutter/Dart) : Interface ergonomique de Swipe.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2. Le Générateur de CV intégré (CV Builder) : Création instantanée d'un CV structuré au format PDF, stocké dans Supabase.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3. Le Moteur de Matching Hybride : Calcul de score basé sur le contenu de l'offre (compétences, contrat, titre, récence) avec filtre de blocage sémantique.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4. Le Tableau de Bord Administrateur (React) : Modération des offres et pilotage dynamique de la tarification.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Arial"/>
              </a:defRPr>
            </a:pPr>
            <a:r>
              <a:t>4. Architecture Technique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17352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Architecture Multi-services découplée :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- Frontend Mobile : Flutter &amp; Dart (performances et animations fluides).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- Backend-as-a-Service (BaaS) : Supabase (PostgreSQL, Authentification OTP, Storage et Edge Functions TypeScript en Deno).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- Worker d'ingestion (Scraper) : Python &amp; EasyScrap, structurant les offres d'emploi avec l'API de DeepSeek.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- Passerelle de Paiement Mobile Money locale : GeniusPay (Wave, MTN, Orange Money) avec Edge Function webhook sécurisée.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- Système d'alertes : Resend API (emails) et Firebase Cloud Messaging (FCM - push).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Arial"/>
              </a:defRPr>
            </a:pPr>
            <a:r>
              <a:t>4. Modélisation UML : Cas d'Utilisation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5486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Description des cas d'utilisation :</a:t>
            </a:r>
            <a:br/>
            <a:br/>
            <a:r>
              <a:t>- Le Candidat : Création de profil, génération de CV au format PDF, swipe d'offres et contact WhatsApp.</a:t>
            </a:r>
            <a:br/>
            <a:br/>
            <a:r>
              <a:t>- Le Recruteur : Publication d'offres.</a:t>
            </a:r>
            <a:br/>
            <a:br/>
            <a:r>
              <a:t>- L'Administrateur : Modération des offres/profils, configuration dynamique (limites de swipes, prix) et monitoring.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029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E3A8A"/>
                </a:solidFill>
                <a:latin typeface="Arial"/>
              </a:defRPr>
            </a:pPr>
            <a:r>
              <a:t>[Insérer ici le Diagramme de Cas d'Utilisation]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Arial"/>
              </a:defRPr>
            </a:pPr>
            <a:r>
              <a:t>4. Modélisation UML : Séquence d'un Match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5486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Chorégraphie du Swipe Right :</a:t>
            </a:r>
            <a:br/>
            <a:br/>
            <a:r>
              <a:t>- L'utilisateur effectue un swipe sur son mobile.</a:t>
            </a:r>
            <a:br/>
            <a:r>
              <a:t>- L'Edge Function 'apply-to-job' est déclenchée.</a:t>
            </a:r>
            <a:br/>
            <a:r>
              <a:t>- Récupération du CV généré dans Supabase Storage.</a:t>
            </a:r>
            <a:br/>
            <a:r>
              <a:t>- Envoi automatique d'un email de candidature au recruteur via Resend.</a:t>
            </a:r>
            <a:br/>
            <a:r>
              <a:t>- Notification push FCM confirmant le match au candidat.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029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E3A8A"/>
                </a:solidFill>
                <a:latin typeface="Arial"/>
              </a:defRPr>
            </a:pPr>
            <a:r>
              <a:t>[Insérer ici le Diagramme de Séquence]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5. Démonstration en Direct (Live Demo)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60152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1. Inscription rapide d'un candidat avec OTP e-mail.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2. Renseignement du profil et Génération du CV PDF (CV Builder).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3. Parcours de Swipe d'offres d'emploi et affichage du score de match.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4. Déclenchement d'un Match et ouverture du contact direct sur WhatsApp.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5. Panel d'administration React : gestion de la tarification dynamique (1000 XOF).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Arial"/>
              </a:defRPr>
            </a:pPr>
            <a:r>
              <a:t>6. Validation &amp; Limites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17352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Validation Technique :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  - Tests unitaires et d'intégration validant le routage des scores et l'authentification OTP.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  - Tests de charge confirmant le maintien d'une latence serveur &lt; 200 ms sous 1000 connexions.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Limites de l'Étude :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  - Dépendance technique vis-à-vis des agrégateurs de paiement locaux (GeniusPay).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  - Limitation du matching linguistique basé sur la comparaison de mots-clés sémantiques basiques (risques de faux-négatifs sur les synonymes).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Arial"/>
              </a:defRPr>
            </a:pPr>
            <a:r>
              <a:t>7. Conclusion et Perspectives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17352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Conclusion :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- Objectifs atteints : Une plateforme fluide, scalable et culturellement adaptée au marché ivoirien.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- La gamification couplée à WhatsApp offre une alternative prometteuse au modèle de recrutement classique.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Perspectives d'Évolution :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  1. Intégration du Matching Sémantique Vectoriel (pgvector) pour associer intelligemment les synonymes.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  2. Algorithme de Filtrage Collaboratif basé sur les comportements collectifs.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  3. Expansion géographique (Sénégal, Mali, Cameroun, etc.).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